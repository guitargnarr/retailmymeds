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tthewscott/Desktop/RetailMyMeds/Meeting_Screenshots/slide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39341" y="1620887"/>
            <a:ext cx="326531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RetailMyMeds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939341" y="2220962"/>
            <a:ext cx="3265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Qualification System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191000" y="2792462"/>
            <a:ext cx="762000" cy="25301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83380" y="2792462"/>
            <a:ext cx="77724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" dirty="0"/>
          </a:p>
        </p:txBody>
      </p:sp>
      <p:sp>
        <p:nvSpPr>
          <p:cNvPr id="7" name="Text 4"/>
          <p:cNvSpPr/>
          <p:nvPr/>
        </p:nvSpPr>
        <p:spPr>
          <a:xfrm>
            <a:off x="2939341" y="3046363"/>
            <a:ext cx="32653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Arica Collins | February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39341" y="3284488"/>
            <a:ext cx="32653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McCarron + Matthew Scott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33301"/>
            <a:ext cx="2590800" cy="945952"/>
          </a:xfrm>
          <a:prstGeom prst="roundRect">
            <a:avLst>
              <a:gd name="adj" fmla="val 8055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2547" y="1111002"/>
            <a:ext cx="228010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$39.50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547" y="1558677"/>
            <a:ext cx="2280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loss per GLP-1 fill on gov payers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76600" y="933301"/>
            <a:ext cx="2590800" cy="945952"/>
          </a:xfrm>
          <a:prstGeom prst="roundRect">
            <a:avLst>
              <a:gd name="adj" fmla="val 8055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1947" y="1111002"/>
            <a:ext cx="228010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41,775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31947" y="1558677"/>
            <a:ext cx="2280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in targeting database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0" y="933301"/>
            <a:ext cx="2590800" cy="945952"/>
          </a:xfrm>
          <a:prstGeom prst="roundRect">
            <a:avLst>
              <a:gd name="adj" fmla="val 8055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1347" y="1111002"/>
            <a:ext cx="228010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22,019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1347" y="1558677"/>
            <a:ext cx="2280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pharmacies scored for outreach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56954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pharmacies lose money on every GLP-1 prescription. Most don't know how much.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5156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8E8E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0" y="105156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8E8E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8E8E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78308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8E8E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1460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8E8E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251460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E8E8E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933301"/>
            <a:ext cx="4013150" cy="738188"/>
          </a:xfrm>
          <a:prstGeom prst="roundRect">
            <a:avLst>
              <a:gd name="adj" fmla="val 10323"/>
            </a:avLst>
          </a:prstGeom>
          <a:solidFill>
            <a:srgbClr val="E8E8EC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069777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Scorecard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3675" y="1237952"/>
            <a:ext cx="381500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2-min form. Personalized grade (A-D), financial projections, downloadable PDF.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747689"/>
            <a:ext cx="4013150" cy="589657"/>
          </a:xfrm>
          <a:prstGeom prst="roundRect">
            <a:avLst>
              <a:gd name="adj" fmla="val 12923"/>
            </a:avLst>
          </a:prstGeom>
          <a:solidFill>
            <a:srgbClr val="E8E8EC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3675" y="1884164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Estimate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3675" y="2052340"/>
            <a:ext cx="38150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4-field version. Instant ROI verdict for cold outreach or events.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413546"/>
            <a:ext cx="4013150" cy="589657"/>
          </a:xfrm>
          <a:prstGeom prst="roundRect">
            <a:avLst>
              <a:gd name="adj" fmla="val 12923"/>
            </a:avLst>
          </a:prstGeom>
          <a:solidFill>
            <a:srgbClr val="E8E8EC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2550021"/>
            <a:ext cx="3815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3675" y="2718197"/>
            <a:ext cx="38150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backend. Scores, PDFs, email delivery in real time.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73501" y="933301"/>
            <a:ext cx="4013299" cy="589657"/>
          </a:xfrm>
          <a:prstGeom prst="roundRect">
            <a:avLst>
              <a:gd name="adj" fmla="val 12923"/>
            </a:avLst>
          </a:prstGeom>
          <a:solidFill>
            <a:srgbClr val="E8E8EC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9976" y="1069777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Outreach Lists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976" y="1237952"/>
            <a:ext cx="381515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states, outbound-ready CSVs. 12 columns, sorted by priority.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73501" y="1599158"/>
            <a:ext cx="4013299" cy="589657"/>
          </a:xfrm>
          <a:prstGeom prst="roundRect">
            <a:avLst>
              <a:gd name="adj" fmla="val 12923"/>
            </a:avLst>
          </a:prstGeom>
          <a:solidFill>
            <a:srgbClr val="E8E8EC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9976" y="1735634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976" y="1903809"/>
            <a:ext cx="381515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41,775 pharmacies, 5 federal sources. Scored, graded, segmented.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73501" y="2265015"/>
            <a:ext cx="4013299" cy="589657"/>
          </a:xfrm>
          <a:prstGeom prst="roundRect">
            <a:avLst>
              <a:gd name="adj" fmla="val 12923"/>
            </a:avLst>
          </a:prstGeom>
          <a:solidFill>
            <a:srgbClr val="E8E8EC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9976" y="2401491"/>
            <a:ext cx="3815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Wix Velo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9976" y="2569666"/>
            <a:ext cx="381515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Ready-to-deploy code for retailmymeds.com.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970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Qualification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5100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minutes. 10 questions. Personalized ROI.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2851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pharmacy owner answers 10 questions about volume, systems, and situation.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44402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sections: pharmacy info, Rx volume, technology, and current pain points.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145953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desktop and mobile. No login required.</a:t>
            </a:r>
            <a:endParaRPr lang="en-US" sz="1050" dirty="0"/>
          </a:p>
        </p:txBody>
      </p:sp>
      <p:pic>
        <p:nvPicPr>
          <p:cNvPr id="8" name="Image 0" descr="/Users/matthewscott/Desktop/RetailMyMeds/Meeting_Screenshots/02_filled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4389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970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Scorecard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5100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Grade, dimensions, recommendation, PDF -- all in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2851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grade (A-D) with composite score out of 100.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44402"/>
            <a:ext cx="272034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dimensions: Financial Fit (45%), Operational Readiness (30%), Market Urgency (25%).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345978"/>
            <a:ext cx="2667000" cy="787301"/>
          </a:xfrm>
          <a:prstGeom prst="roundRect">
            <a:avLst>
              <a:gd name="adj" fmla="val 96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4150" y="2472928"/>
            <a:ext cx="2461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example: Grade A, 93/100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4150" y="2663428"/>
            <a:ext cx="2461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Breakeven: just 7 fills/month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4150" y="2853928"/>
            <a:ext cx="2461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loss: $23,700/month</a:t>
            </a:r>
            <a:endParaRPr lang="en-US" sz="1050" dirty="0"/>
          </a:p>
        </p:txBody>
      </p:sp>
      <p:pic>
        <p:nvPicPr>
          <p:cNvPr id="11" name="Image 0" descr="/Users/matthewscott/Desktop/RetailMyMeds/Meeting_Screenshots/04_result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4572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970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Estimate (4 Fields)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5100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Low-friction entry point for cold outreach.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2851"/>
            <a:ext cx="28498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 fields: name, state, Rx volume, GLP-1 fills. Instant ROI verdict.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44402"/>
            <a:ext cx="2793950" cy="1056829"/>
          </a:xfrm>
          <a:prstGeom prst="roundRect">
            <a:avLst>
              <a:gd name="adj" fmla="val 7210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771352"/>
            <a:ext cx="2590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4150" y="1964978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shows and conferences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4150" y="2123629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 follow-ups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4150" y="2282279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campaign landing pages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4150" y="244093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lead capture</a:t>
            </a:r>
            <a:endParaRPr lang="en-US" sz="950" dirty="0"/>
          </a:p>
        </p:txBody>
      </p:sp>
      <p:pic>
        <p:nvPicPr>
          <p:cNvPr id="12" name="Image 0" descr="/Users/matthewscott/Desktop/RetailMyMeds/Meeting_Screenshots/05_quick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4572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970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PDF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5100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document each pharmacy can share internally.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2851"/>
            <a:ext cx="25906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score breakdown, every sub-score, and written recommendation.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644402"/>
            <a:ext cx="25906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server-side via LaTeX. Every PDF unique to that pharmacy.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6250" y="2145953"/>
            <a:ext cx="0" cy="609302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2145953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pages per scorecard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6801" y="230460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breakdown included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6801" y="2463254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projections at 3 scenarios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6801" y="2621905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emailed automatically</a:t>
            </a:r>
            <a:endParaRPr lang="en-US" sz="950" dirty="0"/>
          </a:p>
        </p:txBody>
      </p:sp>
      <p:pic>
        <p:nvPicPr>
          <p:cNvPr id="12" name="Image 0" descr="/Users/matthewscott/Desktop/RetailMyMeds/Meeting_Screenshots/07_scorecard_p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4754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970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Outreach Lists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5100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Pre-built, priority-sorted CSVs for outbound workflow.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1924050" cy="580727"/>
          </a:xfrm>
          <a:prstGeom prst="roundRect">
            <a:avLst>
              <a:gd name="adj" fmla="val 13121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490" y="1295102"/>
            <a:ext cx="17554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1490" y="1558528"/>
            <a:ext cx="1755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files ready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58951" y="1193602"/>
            <a:ext cx="1924199" cy="580727"/>
          </a:xfrm>
          <a:prstGeom prst="roundRect">
            <a:avLst>
              <a:gd name="adj" fmla="val 13121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43240" y="1295102"/>
            <a:ext cx="17556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43240" y="1558528"/>
            <a:ext cx="1755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per row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0850" y="1193602"/>
            <a:ext cx="1924050" cy="580727"/>
          </a:xfrm>
          <a:prstGeom prst="roundRect">
            <a:avLst>
              <a:gd name="adj" fmla="val 13121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5141" y="1295102"/>
            <a:ext cx="17554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5,922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45141" y="1558528"/>
            <a:ext cx="1755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Outreach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2601" y="1193602"/>
            <a:ext cx="1924199" cy="580727"/>
          </a:xfrm>
          <a:prstGeom prst="roundRect">
            <a:avLst>
              <a:gd name="adj" fmla="val 13121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46890" y="1295102"/>
            <a:ext cx="17556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12,817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46890" y="1558528"/>
            <a:ext cx="1755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states total</a:t>
            </a:r>
            <a:endParaRPr lang="en-US" sz="850" dirty="0"/>
          </a:p>
        </p:txBody>
      </p:sp>
      <p:pic>
        <p:nvPicPr>
          <p:cNvPr id="17" name="Image 0" descr="/Users/matthewscott/Desktop/RetailMyMeds/Meeting_Screenshots/06_outreach_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A0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Paths, One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33301"/>
            <a:ext cx="3987850" cy="1758404"/>
          </a:xfrm>
          <a:prstGeom prst="roundRect">
            <a:avLst>
              <a:gd name="adj" fmla="val 4333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3951" y="1130052"/>
            <a:ext cx="3666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(Arica)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3951" y="1390352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the lists.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3951" y="1625203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CSVs with 12 columns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3951" y="1809304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priority + 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3951" y="1993404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5,922 Immediate Outreach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3951" y="2177504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Estimate for cold calls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951" y="2361605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scorecard for warm leads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98950" y="933301"/>
            <a:ext cx="3987850" cy="1758404"/>
          </a:xfrm>
          <a:prstGeom prst="roundRect">
            <a:avLst>
              <a:gd name="adj" fmla="val 4333"/>
            </a:avLst>
          </a:prstGeom>
          <a:solidFill>
            <a:srgbClr val="F7F7F8"/>
          </a:solidFill>
          <a:ln w="19050">
            <a:solidFill>
              <a:srgbClr val="6B72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5701" y="1130052"/>
            <a:ext cx="3666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(Website)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5701" y="1390352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integrates the form.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5701" y="1625203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on retailmymeds.com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5701" y="1809304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self-qualifies in 2 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5701" y="1993404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emailed automatically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5701" y="2177504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captured with score + grade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5701" y="2361605"/>
            <a:ext cx="3666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 code ready for Kevin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tthewscott/Desktop/RetailMyMeds/Meeting_Screenshots/slide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6488" y="1436936"/>
            <a:ext cx="419102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You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91000" y="2049661"/>
            <a:ext cx="762000" cy="25301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183380" y="2049661"/>
            <a:ext cx="777240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" dirty="0"/>
          </a:p>
        </p:txBody>
      </p:sp>
      <p:sp>
        <p:nvSpPr>
          <p:cNvPr id="6" name="Text 3"/>
          <p:cNvSpPr/>
          <p:nvPr/>
        </p:nvSpPr>
        <p:spPr>
          <a:xfrm>
            <a:off x="2476488" y="2328863"/>
            <a:ext cx="4191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you currently qualifying pharmacies?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76488" y="2601813"/>
            <a:ext cx="4191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states are you operating in right now?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76488" y="2874764"/>
            <a:ext cx="4191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your outreach workflow look like today?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76488" y="3147715"/>
            <a:ext cx="4191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format would be most useful for your team?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476488" y="3496866"/>
            <a:ext cx="41910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shown today is live and ready to use.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RetailMyMeds - Pharmacy Qualification System</dc:title>
  <dc:subject>PptxGenJS Presentation</dc:subject>
  <dc:creator>Matthew Scott</dc:creator>
  <cp:lastModifiedBy>Matthew Scott</cp:lastModifiedBy>
  <cp:revision>1</cp:revision>
  <dcterms:created xsi:type="dcterms:W3CDTF">2026-02-18T12:02:06Z</dcterms:created>
  <dcterms:modified xsi:type="dcterms:W3CDTF">2026-02-18T12:02:06Z</dcterms:modified>
</cp:coreProperties>
</file>